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163aad521d492b" /><Relationship Type="http://schemas.openxmlformats.org/officeDocument/2006/relationships/extended-properties" Target="/docProps/app.xml" Id="R4baacb0ab0d44a2c" /><Relationship Type="http://schemas.openxmlformats.org/officeDocument/2006/relationships/officeDocument" Target="/ppt/presentation.xml" Id="R4dbe13756af64b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8365a8ffc348ad"/>
  </p:sldMasterIdLst>
  <p:notesMasterIdLst>
    <p:notesMasterId xmlns:r="http://schemas.openxmlformats.org/officeDocument/2006/relationships" r:id="R4fbfcfaeaff0478b"/>
  </p:notesMasterIdLst>
  <p:sldIdLst>
    <p:sldId xmlns:r="http://schemas.openxmlformats.org/officeDocument/2006/relationships" id="256" r:id="Rd621bff17cde4156"/>
    <p:sldId xmlns:r="http://schemas.openxmlformats.org/officeDocument/2006/relationships" id="257" r:id="R1b4a1e2b0f4f4c22"/>
    <p:sldId xmlns:r="http://schemas.openxmlformats.org/officeDocument/2006/relationships" id="258" r:id="R89f2c234b6fc4221"/>
    <p:sldId xmlns:r="http://schemas.openxmlformats.org/officeDocument/2006/relationships" id="259" r:id="R7eb1fc3051dd44fa"/>
    <p:sldId xmlns:r="http://schemas.openxmlformats.org/officeDocument/2006/relationships" id="260" r:id="Raed653c147264094"/>
    <p:sldId xmlns:r="http://schemas.openxmlformats.org/officeDocument/2006/relationships" id="261" r:id="R04a3dbccba8e4728"/>
    <p:sldId xmlns:r="http://schemas.openxmlformats.org/officeDocument/2006/relationships" id="262" r:id="R7782bddc55744a46"/>
    <p:sldId xmlns:r="http://schemas.openxmlformats.org/officeDocument/2006/relationships" id="263" r:id="Rb7c90d17849d46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3105e01831498a" /><Relationship Type="http://schemas.openxmlformats.org/officeDocument/2006/relationships/slideMaster" Target="/ppt/slideMasters/slideMaster1.xml" Id="R868365a8ffc348ad" /><Relationship Type="http://schemas.openxmlformats.org/officeDocument/2006/relationships/notesMaster" Target="/ppt/notesMasters/notesMaster1.xml" Id="R4fbfcfaeaff0478b" /><Relationship Type="http://schemas.openxmlformats.org/officeDocument/2006/relationships/presProps" Target="/ppt/presProps.xml" Id="R26b798487aa34a36" /><Relationship Type="http://schemas.openxmlformats.org/officeDocument/2006/relationships/tableStyles" Target="/ppt/tableStyles.xml" Id="Rd49e5679fdf8454e" /><Relationship Type="http://schemas.openxmlformats.org/officeDocument/2006/relationships/slide" Target="/ppt/slides/slide1.xml" Id="Rd621bff17cde4156" /><Relationship Type="http://schemas.openxmlformats.org/officeDocument/2006/relationships/slide" Target="/ppt/slides/slide2.xml" Id="R1b4a1e2b0f4f4c22" /><Relationship Type="http://schemas.openxmlformats.org/officeDocument/2006/relationships/slide" Target="/ppt/slides/slide3.xml" Id="R89f2c234b6fc4221" /><Relationship Type="http://schemas.openxmlformats.org/officeDocument/2006/relationships/slide" Target="/ppt/slides/slide4.xml" Id="R7eb1fc3051dd44fa" /><Relationship Type="http://schemas.openxmlformats.org/officeDocument/2006/relationships/slide" Target="/ppt/slides/slide5.xml" Id="Raed653c147264094" /><Relationship Type="http://schemas.openxmlformats.org/officeDocument/2006/relationships/slide" Target="/ppt/slides/slide6.xml" Id="R04a3dbccba8e4728" /><Relationship Type="http://schemas.openxmlformats.org/officeDocument/2006/relationships/slide" Target="/ppt/slides/slide7.xml" Id="R7782bddc55744a46" /><Relationship Type="http://schemas.openxmlformats.org/officeDocument/2006/relationships/slide" Target="/ppt/slides/slide8.xml" Id="Rb7c90d17849d46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f1eef9d9cc40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7dea01676d4951" /><Relationship Type="http://schemas.openxmlformats.org/officeDocument/2006/relationships/notesMaster" Target="/ppt/notesMasters/notesMaster1.xml" Id="R6f778b7633b14d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5c2ed978884af3" /><Relationship Type="http://schemas.openxmlformats.org/officeDocument/2006/relationships/notesMaster" Target="/ppt/notesMasters/notesMaster1.xml" Id="Re73c649a886943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c9d8ee45b944e0" /><Relationship Type="http://schemas.openxmlformats.org/officeDocument/2006/relationships/notesMaster" Target="/ppt/notesMasters/notesMaster1.xml" Id="Rf803b4a4764b40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2745edba36495e" /><Relationship Type="http://schemas.openxmlformats.org/officeDocument/2006/relationships/notesMaster" Target="/ppt/notesMasters/notesMaster1.xml" Id="R65fe6cea3c0542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b3f5f469c64fa3" /><Relationship Type="http://schemas.openxmlformats.org/officeDocument/2006/relationships/notesMaster" Target="/ppt/notesMasters/notesMaster1.xml" Id="R3cda0c1a4c3c4a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c0912a69ee4582" /><Relationship Type="http://schemas.openxmlformats.org/officeDocument/2006/relationships/notesMaster" Target="/ppt/notesMasters/notesMaster1.xml" Id="Ra57e188acd3d48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8f5526da2d4f38" /><Relationship Type="http://schemas.openxmlformats.org/officeDocument/2006/relationships/notesMaster" Target="/ppt/notesMasters/notesMaster1.xml" Id="R22a3ab3373214d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64a2076e32474c" /><Relationship Type="http://schemas.openxmlformats.org/officeDocument/2006/relationships/notesMaster" Target="/ppt/notesMasters/notesMaster1.xml" Id="Rca5aa89ee8794e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Основа: продуктовая спецификация MAX_DomPuls_Product_Technical_Spec_v3.md; README.md проекта.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Проблема и пример взяты из продуктовой спецификации. Не является результатом рыночного исследования.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Реализовано: Signal, Issue, Action, Submission, WorkOrder, Evidence, Verification, Asset timeline. Тест: tests/e2e/test_golden_path.py.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Роли и доступы: README.md, docs/max_setup.md, apps/api/app/settings.py. В режиме показа роль можно переключать; для эксплуатации нужен allowlist MAX user_id.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Реальная интеграция: MAX Bot API и MAX Bridge. Групповой опрос реализован и покрыт unit tests; живой групповой прогон требует тестового чата с ботом. Подробнее: docs/max_setup.md.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Метрики: reports/category_eval.json и docs/ai_metrics.md. Внешний OpenRouter получает только текст, который пользователь вручную пишет помощнику, с согласия пользователя.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Проверка: README.md, configs/demo_house_a.yaml, configs/demo_house_b.yaml, tests/. Статус интеграций и ограничения перечислены в README.md и docs/evidence_registry.md.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Точный сценарий: docs/demo.md. Бот использует реальный MAX Bot API. Внешняя отправка в УК симулируется и явно отмечена в интерфейсе.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b2c70135ee4a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067ced508446d5" /><Relationship Type="http://schemas.openxmlformats.org/officeDocument/2006/relationships/slideLayout" Target="/ppt/slideLayouts/slideLayout1.xml" Id="R9e5f71624df946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5f71624df946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a16da09aa4017" /><Relationship Type="http://schemas.openxmlformats.org/officeDocument/2006/relationships/image" Target="/ppt/media/image.png" Id="R8ce662ab8ee74006" /><Relationship Type="http://schemas.openxmlformats.org/officeDocument/2006/relationships/notesSlide" Target="/ppt/notesSlides/notesSlide1.xml" Id="R265b7960cb2945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4d07091854940" /><Relationship Type="http://schemas.openxmlformats.org/officeDocument/2006/relationships/image" Target="/ppt/media/image2.png" Id="Rd92c3a95f65646a7" /><Relationship Type="http://schemas.openxmlformats.org/officeDocument/2006/relationships/notesSlide" Target="/ppt/notesSlides/notesSlide2.xml" Id="R42e58d999f3342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4b904cb6e445c" /><Relationship Type="http://schemas.openxmlformats.org/officeDocument/2006/relationships/notesSlide" Target="/ppt/notesSlides/notesSlide3.xml" Id="Rfec6d2cbb12d49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144fa1c704fcb" /><Relationship Type="http://schemas.openxmlformats.org/officeDocument/2006/relationships/notesSlide" Target="/ppt/notesSlides/notesSlide4.xml" Id="R2d43d0aac88b4c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320cffdac492f" /><Relationship Type="http://schemas.openxmlformats.org/officeDocument/2006/relationships/image" Target="/ppt/media/image3.png" Id="Rf352dcb1b8834952" /><Relationship Type="http://schemas.openxmlformats.org/officeDocument/2006/relationships/notesSlide" Target="/ppt/notesSlides/notesSlide5.xml" Id="R87076b25192741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1662043a340e4" /><Relationship Type="http://schemas.openxmlformats.org/officeDocument/2006/relationships/notesSlide" Target="/ppt/notesSlides/notesSlide6.xml" Id="R52df4cbaa46d4e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0e7a17b1c4931" /><Relationship Type="http://schemas.openxmlformats.org/officeDocument/2006/relationships/notesSlide" Target="/ppt/notesSlides/notesSlide7.xml" Id="R44daae9acfa348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d96ff04a746e0" /><Relationship Type="http://schemas.openxmlformats.org/officeDocument/2006/relationships/notesSlide" Target="/ppt/notesSlides/notesSlide8.xml" Id="Rc5288d02501241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0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44564-7030-4C03-99C3-44F2DA14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29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D4E9E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4E9E4"/>
                </a:solidFill>
                <a:latin typeface="Arial"/>
                <a:ea typeface="Arial"/>
                <a:cs typeface="Arial"/>
              </a:rPr>
              <a:t>ПРОЕКТ ДЛЯ ХАКАТОНА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D830C-9F30-43DA-B97F-20A0C744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ДомПульс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8048A-9EF4-496C-949D-914E1D5E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Сообщение жителя становится</a:t>
            </a:r>
          </a:p>
          <a:p xmlns:a="http://schemas.openxmlformats.org/drawingml/2006/main">
            <a: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проверенным результатом для дома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07484C-FA41-43B9-9DDF-5011D77E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293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4E9E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4E9E4"/>
                </a:solidFill>
                <a:latin typeface="Arial"/>
                <a:ea typeface="Arial"/>
                <a:cs typeface="Arial"/>
              </a:rPr>
              <a:t>Бот MAX · мини-приложение · история объектов дома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662ab8ee74006"/>
          <a:stretch xmlns:a="http://schemas.openxmlformats.org/drawingml/2006/main"/>
        </p:blipFill>
        <p:spPr>
          <a:xfrm xmlns:a="http://schemas.openxmlformats.org/drawingml/2006/main">
            <a:off x="9144000" y="2534201"/>
            <a:ext cx="2286000" cy="241824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22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49633-9414-462F-9990-BB3CF5EC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30379-4DA2-4D1D-9BDD-82CA5F30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Проблема повторяется. История теряется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F578D-FA38-49E6-BDDC-85710BDE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A2B07-357F-4D8D-B4E0-F9AC9429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10382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«Лифт опять встал, второй подъезд»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4EAA2-A05D-4357-913F-40B4CA8E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8382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Жителю важно знать, что случилось с лифтом раньше, кто сейчас отвечает за работу и подтвердили ли соседи результат.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83B8B-B353-4DAF-A988-586B51CF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876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Единица продукта — состояние лифта во времени.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c3a95f65646a7"/>
          <a:stretch xmlns:a="http://schemas.openxmlformats.org/drawingml/2006/main"/>
        </p:blipFill>
        <p:spPr>
          <a:xfrm xmlns:a="http://schemas.openxmlformats.org/drawingml/2006/main">
            <a:off x="9561016" y="3905250"/>
            <a:ext cx="1880592" cy="2057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6626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BDCBB-602B-49BE-AF21-4F6F9BAE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6530F-3FF9-4049-85C6-3A5BDC99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Как работает замкнутый цикл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1B6B7-6EA3-4444-B51D-0A457685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1DB72A-63C8-4773-B12B-431F0C1A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6A8D1B-AF0D-4DEE-9161-C7EBD38F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90875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Сигналы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2256EA-7325-422A-ACE5-C419DE71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9525"/>
            <a:ext cx="24288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Сообщения жителей</a:t>
            </a:r>
          </a:p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в личке и группе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97F3F-82DD-4610-BD82-3C718B24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6220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A1189-DDAA-4A62-9EDD-67502AE4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90875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Объект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DC3C5-35D9-4196-B93B-EF28A132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19525"/>
            <a:ext cx="24288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Проблема лифта №2</a:t>
            </a:r>
          </a:p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и прошлые инциденты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87BB2-4C3F-4708-A374-2493545E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6220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933E3-124F-47CB-A60D-5DFB5C43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90875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Работа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71F126-E4CC-4E7A-AC9F-E65E1B98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19525"/>
            <a:ext cx="24288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Передача, исполнитель,</a:t>
            </a:r>
          </a:p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фото выполнения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97C31-13D6-4E88-8A61-DF714A7E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6220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96F58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96F5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2F1527-02C5-42FB-AEB6-5969C52B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90875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F3577A-EC28-4788-9A9C-D6B26AA6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819525"/>
            <a:ext cx="24288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Житель подтвердил</a:t>
            </a:r>
          </a:p>
          <a:p xmlns:a="http://schemas.openxmlformats.org/drawingml/2006/main">
            <a:pPr>
              <a:defRPr sz="172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или открыл повторно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A38326-6AFF-404D-A7D9-13406C03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48325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После закрытия новая поломка видна как повторение на том же объекте.</a:t>
            </a:r>
          </a:p>
        </p:txBody>
      </p:sp>
    </p:spTree>
    <p:extLst>
      <p:ext uri="{BB962C8B-B14F-4D97-AF65-F5344CB8AC3E}">
        <p14:creationId xmlns:p14="http://schemas.microsoft.com/office/powerpoint/2010/main" val="512715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1F5CF-7116-471B-A9AA-D4CA7A5D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AFF52-36BA-459E-B3FB-DEB15EFA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У каждого участника своя задача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1D48F-B833-4379-9144-23485144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0F1E3-257D-4A0D-AAF5-6E27245F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Житель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2E5FD-4416-4DC3-A705-970426FF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114550"/>
            <a:ext cx="7429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Сообщает о проблеме, подтверждает соседей, проверяет результат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5F76F-50BA-46D7-8F68-AF9E90BD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Домоуправляющий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C454F-015B-4242-BA03-6B1A3FD5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086100"/>
            <a:ext cx="7429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Решает, готова ли проблема к передаче и кому адресовать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996B63-1825-47E2-ADDE-E526ABB2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УК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DB4B0-144A-4176-B74B-8C90522A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57650"/>
            <a:ext cx="7429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Принимает обращение и назначает работу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19AF7B-C79E-4614-AA83-446742B8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Исполнитель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D75170-E200-49D9-A3C1-6AB6C594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29200"/>
            <a:ext cx="7429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Выполняет работу и прикладывает подтверждение</a:t>
            </a:r>
          </a:p>
        </p:txBody>
      </p:sp>
    </p:spTree>
    <p:extLst>
      <p:ext uri="{BB962C8B-B14F-4D97-AF65-F5344CB8AC3E}">
        <p14:creationId xmlns:p14="http://schemas.microsoft.com/office/powerpoint/2010/main" val="1578137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C390C-75E4-4D08-9BAB-6968BE70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38CB9-1AFC-4AEF-B190-7772C5AF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MAX объединяет чат и состояние дома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E2517-1B7F-469C-8229-02F1E823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C4FCF-3353-4186-B640-FF44B5E9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8429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Бот принимает сообщения группы и личного диалога. Мини-приложение открывает карточку дома и историю объекта.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96FAF-7658-46A0-AE37-7E5DF79A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7905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Инициатива жителей превращается в общий неформальный опрос прямо в групповом чате.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2BDD1-4781-4E06-94CF-B6BD2BF0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MAX ID подтверждает аккаунт, но не факт проживания в доме.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52dcb1b8834952"/>
          <a:stretch xmlns:a="http://schemas.openxmlformats.org/drawingml/2006/main"/>
        </p:blipFill>
        <p:spPr>
          <a:xfrm xmlns:a="http://schemas.openxmlformats.org/drawingml/2006/main">
            <a:off x="9334500" y="3203674"/>
            <a:ext cx="2095500" cy="166985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188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82559C-4509-4FDA-B2B3-BBE882C0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C4D912-912E-4158-BA75-5C993823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ML помогает, правила принимают решения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BE77BF-A410-44A9-B3E9-404CBC68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116F6-3134-4890-B849-2E5BA69F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428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92,86%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3ED10-2916-4C6C-80F8-8F9C55F4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точность категории</a:t>
            </a:r>
          </a:p>
          <a:p xmlns:a="http://schemas.openxmlformats.org/drawingml/2006/main">
            <a:pPr>
              <a:defRPr sz="18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на отложенной выборке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5204F-C939-4063-B3FE-9925FA13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19300"/>
            <a:ext cx="428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0,9317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7F704-19A9-44AD-A5E4-301CE384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14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macro-F1</a:t>
            </a:r>
          </a:p>
          <a:p xmlns:a="http://schemas.openxmlformats.org/drawingml/2006/main">
            <a:pPr>
              <a:defRPr sz="18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на той же выборке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FD267-A22A-4C93-B27E-C697B09A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9620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Категория определяется локально. Место, объект, дубликат и повторяемость проходят отдельную проверку; при сомнении бот уточняет только недостающий факт.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7B52F-3CBD-4182-A982-8F9BFF0B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Выборка из 350 подготовленных сообщений; оценка не заменяет проверку на реальных чатах.</a:t>
            </a:r>
          </a:p>
        </p:txBody>
      </p:sp>
    </p:spTree>
    <p:extLst>
      <p:ext uri="{BB962C8B-B14F-4D97-AF65-F5344CB8AC3E}">
        <p14:creationId xmlns:p14="http://schemas.microsoft.com/office/powerpoint/2010/main" val="2041117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B2A08-9B6C-4EED-B542-D7D9AF15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1C975-7884-4A5C-A055-CF34D08B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53049"/>
                </a:solidFill>
                <a:latin typeface="Arial"/>
                <a:ea typeface="Arial"/>
                <a:cs typeface="Arial"/>
              </a:rPr>
              <a:t>Проверяемость и границы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ACADC-D4E8-4D77-B2B0-C58FD37F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5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EB034-8A06-43C4-931C-14A0F3F0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2 дома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CEE79-D740-44E5-BCFB-5CD38426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4762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Разная конфигурация объектов, маршрутов и порогов повторяемости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D24C6-ADF1-476B-B4EC-10C9FAE3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66925"/>
            <a:ext cx="4857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357FA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7FAB"/>
                </a:solidFill>
                <a:latin typeface="Arial"/>
                <a:ea typeface="Arial"/>
                <a:cs typeface="Arial"/>
              </a:rPr>
              <a:t>101 тест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829EE-480A-418C-865D-AD58F121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695575"/>
            <a:ext cx="4762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В том числе 20 последовательных прогонов основного сценария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F59B6-AF95-4FC5-AF94-4AC38865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10287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3049"/>
                </a:solidFill>
                <a:latin typeface="Arial"/>
                <a:ea typeface="Arial"/>
                <a:cs typeface="Arial"/>
              </a:rPr>
              <a:t>Передача в УК и государственные системы пока учебная. Данные демо-истории помечены как синтетические. Неформальный опрос не является ОСС.</a:t>
            </a:r>
          </a:p>
        </p:txBody>
      </p:sp>
    </p:spTree>
    <p:extLst>
      <p:ext uri="{BB962C8B-B14F-4D97-AF65-F5344CB8AC3E}">
        <p14:creationId xmlns:p14="http://schemas.microsoft.com/office/powerpoint/2010/main" val="3235118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530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05EE0-D53B-42EB-8311-E8442640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4E9E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4E9E4"/>
                </a:solidFill>
                <a:latin typeface="Arial"/>
                <a:ea typeface="Arial"/>
                <a:cs typeface="Arial"/>
              </a:rPr>
              <a:t>ДОМПУЛЬС   /   MAX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41F51-A898-453E-87DF-3C8452D0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Демонстрация за четыре минуты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F2000-025D-473A-9209-687266FF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4E9E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4E9E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6A2D0-F80D-4B8E-8102-4AA18414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 Три сообщения о лифте во втором подъезде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11136-B4CB-41EE-B926-E1BDE4B3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43175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 Одна проблема: подтверждения и четвёртый случай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824F6-8A1F-4904-8FF7-CE18200D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33725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 Передача, назначение, фото работы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9BE48-0914-4810-8827-ABFB0280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  Житель подтверждает: лифт работает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2F49A-4534-473D-B501-2AA7A739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14825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 История лифта обновилась; опрос по освещению открыт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823A1-CE80-44F2-B33C-4FCFF873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  Второй дом показывает иную конфигурацию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5B1102-75BA-487F-80E3-0A1AF604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95975"/>
            <a:ext cx="10191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4E9E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4E9E4"/>
                </a:solidFill>
                <a:latin typeface="Arial"/>
                <a:ea typeface="Arial"/>
                <a:cs typeface="Arial"/>
              </a:rPr>
              <a:t>MAX: @t312_hakaton_max_bot     Мини-приложение: apaww.github.io/dom.sreda.io</a:t>
            </a:r>
          </a:p>
        </p:txBody>
      </p:sp>
    </p:spTree>
    <p:extLst>
      <p:ext uri="{BB962C8B-B14F-4D97-AF65-F5344CB8AC3E}">
        <p14:creationId xmlns:p14="http://schemas.microsoft.com/office/powerpoint/2010/main" val="21305334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2026-09-29T18:07:19.5360000Z</dcterms:created>
  <dcterms:modified xsi:type="dcterms:W3CDTF">2026-09-29T18:07:19.5360000Z</dcterms:modified>
</coreProperties>
</file>