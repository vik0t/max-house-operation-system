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21640b43c04e76" /><Relationship Type="http://schemas.openxmlformats.org/officeDocument/2006/relationships/extended-properties" Target="/docProps/app.xml" Id="Rf9acc2a21b6f426a" /><Relationship Type="http://schemas.openxmlformats.org/officeDocument/2006/relationships/officeDocument" Target="/ppt/presentation.xml" Id="R2dd1be88c75e49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96d86ef69a4b9e"/>
  </p:sldMasterIdLst>
  <p:notesMasterIdLst>
    <p:notesMasterId xmlns:r="http://schemas.openxmlformats.org/officeDocument/2006/relationships" r:id="Rc3aa98fe6ec44d8e"/>
  </p:notesMasterIdLst>
  <p:sldIdLst>
    <p:sldId xmlns:r="http://schemas.openxmlformats.org/officeDocument/2006/relationships" id="256" r:id="R343b812d8bd0455a"/>
    <p:sldId xmlns:r="http://schemas.openxmlformats.org/officeDocument/2006/relationships" id="257" r:id="Refcae9ac97984d97"/>
    <p:sldId xmlns:r="http://schemas.openxmlformats.org/officeDocument/2006/relationships" id="258" r:id="Ref64ca3d58e947d6"/>
    <p:sldId xmlns:r="http://schemas.openxmlformats.org/officeDocument/2006/relationships" id="259" r:id="R78b1c146151d4ad4"/>
    <p:sldId xmlns:r="http://schemas.openxmlformats.org/officeDocument/2006/relationships" id="260" r:id="Raa16b66b0ca54eb6"/>
    <p:sldId xmlns:r="http://schemas.openxmlformats.org/officeDocument/2006/relationships" id="261" r:id="R7fdd27d138ed49b9"/>
    <p:sldId xmlns:r="http://schemas.openxmlformats.org/officeDocument/2006/relationships" id="262" r:id="R01d672dabef648a5"/>
    <p:sldId xmlns:r="http://schemas.openxmlformats.org/officeDocument/2006/relationships" id="263" r:id="Rdff3263229bd4f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809be4b8de4ea9" /><Relationship Type="http://schemas.openxmlformats.org/officeDocument/2006/relationships/slideMaster" Target="/ppt/slideMasters/slideMaster1.xml" Id="R1d96d86ef69a4b9e" /><Relationship Type="http://schemas.openxmlformats.org/officeDocument/2006/relationships/notesMaster" Target="/ppt/notesMasters/notesMaster1.xml" Id="Rc3aa98fe6ec44d8e" /><Relationship Type="http://schemas.openxmlformats.org/officeDocument/2006/relationships/presProps" Target="/ppt/presProps.xml" Id="R40de831611f34146" /><Relationship Type="http://schemas.openxmlformats.org/officeDocument/2006/relationships/tableStyles" Target="/ppt/tableStyles.xml" Id="R5c1ebed44e4240da" /><Relationship Type="http://schemas.openxmlformats.org/officeDocument/2006/relationships/slide" Target="/ppt/slides/slide1.xml" Id="R343b812d8bd0455a" /><Relationship Type="http://schemas.openxmlformats.org/officeDocument/2006/relationships/slide" Target="/ppt/slides/slide2.xml" Id="Refcae9ac97984d97" /><Relationship Type="http://schemas.openxmlformats.org/officeDocument/2006/relationships/slide" Target="/ppt/slides/slide3.xml" Id="Ref64ca3d58e947d6" /><Relationship Type="http://schemas.openxmlformats.org/officeDocument/2006/relationships/slide" Target="/ppt/slides/slide4.xml" Id="R78b1c146151d4ad4" /><Relationship Type="http://schemas.openxmlformats.org/officeDocument/2006/relationships/slide" Target="/ppt/slides/slide5.xml" Id="Raa16b66b0ca54eb6" /><Relationship Type="http://schemas.openxmlformats.org/officeDocument/2006/relationships/slide" Target="/ppt/slides/slide6.xml" Id="R7fdd27d138ed49b9" /><Relationship Type="http://schemas.openxmlformats.org/officeDocument/2006/relationships/slide" Target="/ppt/slides/slide7.xml" Id="R01d672dabef648a5" /><Relationship Type="http://schemas.openxmlformats.org/officeDocument/2006/relationships/slide" Target="/ppt/slides/slide8.xml" Id="Rdff3263229bd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cf9ee6c9b43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307f0011947d5" /><Relationship Type="http://schemas.openxmlformats.org/officeDocument/2006/relationships/notesMaster" Target="/ppt/notesMasters/notesMaster1.xml" Id="Ra1cf33a03ee842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c4c0457be461c" /><Relationship Type="http://schemas.openxmlformats.org/officeDocument/2006/relationships/notesMaster" Target="/ppt/notesMasters/notesMaster1.xml" Id="R596b7cc6100f49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13e882d6f48c6" /><Relationship Type="http://schemas.openxmlformats.org/officeDocument/2006/relationships/notesMaster" Target="/ppt/notesMasters/notesMaster1.xml" Id="R0ab1c84cd238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a2b3d2b888401b" /><Relationship Type="http://schemas.openxmlformats.org/officeDocument/2006/relationships/notesMaster" Target="/ppt/notesMasters/notesMaster1.xml" Id="R14f8ccdbed1e4e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3f8d96b769437c" /><Relationship Type="http://schemas.openxmlformats.org/officeDocument/2006/relationships/notesMaster" Target="/ppt/notesMasters/notesMaster1.xml" Id="R16bdd75d8fd3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9b914f538842f8" /><Relationship Type="http://schemas.openxmlformats.org/officeDocument/2006/relationships/notesMaster" Target="/ppt/notesMasters/notesMaster1.xml" Id="Rbd4d4f41bdb743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7b3e65ddfb4adf" /><Relationship Type="http://schemas.openxmlformats.org/officeDocument/2006/relationships/notesMaster" Target="/ppt/notesMasters/notesMaster1.xml" Id="R467ff188a844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640000bd394ce9" /><Relationship Type="http://schemas.openxmlformats.org/officeDocument/2006/relationships/notesMaster" Target="/ppt/notesMasters/notesMaster1.xml" Id="R3d6b48e32c3c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продуктовая спецификация проекта и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Приоритетный сегмент: житель подъезда с повторной неисправностью лифта. Гипотеза о боли опирается на кейс «Умный город», страницы 5 и 16, и продуктовую спецификацию; независимого пользовательского интервью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Реализовано: Signal, Issue, Action, Submission, WorkOrder, Evidence, Verification, Asset timeline. Тест: tests/e2e/test_golden_path.py.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и доступы: README.md, docs/max_setup.md, apps/api/app/settings.py. В режиме показа роль можно переключать; для эксплуатации нужен allowlist MAX user_id.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интеграция: MAX Bot API и MAX Bridge. Групповой опрос реализован и покрыт unit tests; живой групповой прогон требует тестового чата с ботом. Подробнее: docs/max_setup.md.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Метрики: reports/category_eval.json и docs/ai_metrics.md. Внешний OpenRouter получает только текст, который пользователь вручную пишет помощнику, с согласия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Тиражирование: configs/demo_house_a.yaml и configs/demo_house_b.yaml. Пилот — предложение, не договорённость. Метрики гипотетические до запуска. 20 последовательных E2E проходят. Передача в УК модельная, демо-история синтетическая, опрос не является ОСС.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Точный сценарий: docs/demo.md. Бот использует реальный MAX Bot API. Внешняя отправка в УК симулируется и явно отмечена в интерфейсе.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23940c45f4f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d4727f496e4baa" /><Relationship Type="http://schemas.openxmlformats.org/officeDocument/2006/relationships/slideLayout" Target="/ppt/slideLayouts/slideLayout1.xml" Id="R44e8ebdb7b1c40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8ebdb7b1c40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4c6b8f5f9492e" /><Relationship Type="http://schemas.openxmlformats.org/officeDocument/2006/relationships/image" Target="/ppt/media/image.png" Id="Rf854c7e110c14a16" /><Relationship Type="http://schemas.openxmlformats.org/officeDocument/2006/relationships/notesSlide" Target="/ppt/notesSlides/notesSlide1.xml" Id="Rb376c3979dd74f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1d3961cb94958" /><Relationship Type="http://schemas.openxmlformats.org/officeDocument/2006/relationships/image" Target="/ppt/media/image2.png" Id="Rfedf81951e174791" /><Relationship Type="http://schemas.openxmlformats.org/officeDocument/2006/relationships/notesSlide" Target="/ppt/notesSlides/notesSlide2.xml" Id="R1e4cd8b1ed024b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eed7bd6be4c91" /><Relationship Type="http://schemas.openxmlformats.org/officeDocument/2006/relationships/notesSlide" Target="/ppt/notesSlides/notesSlide3.xml" Id="R2d92d71c6a8042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642baaa154f49" /><Relationship Type="http://schemas.openxmlformats.org/officeDocument/2006/relationships/notesSlide" Target="/ppt/notesSlides/notesSlide4.xml" Id="Red77496585c94b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4b3522f104b30" /><Relationship Type="http://schemas.openxmlformats.org/officeDocument/2006/relationships/image" Target="/ppt/media/image3.png" Id="Rf13db920fa8f4d62" /><Relationship Type="http://schemas.openxmlformats.org/officeDocument/2006/relationships/notesSlide" Target="/ppt/notesSlides/notesSlide5.xml" Id="R3394428835cb4c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ece86e1234877" /><Relationship Type="http://schemas.openxmlformats.org/officeDocument/2006/relationships/notesSlide" Target="/ppt/notesSlides/notesSlide6.xml" Id="R43807767ae6442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96fcc542e4098" /><Relationship Type="http://schemas.openxmlformats.org/officeDocument/2006/relationships/notesSlide" Target="/ppt/notesSlides/notesSlide7.xml" Id="Rec8e2a480b2749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46291567943b5" /><Relationship Type="http://schemas.openxmlformats.org/officeDocument/2006/relationships/notesSlide" Target="/ppt/notesSlides/notesSlide8.xml" Id="R317bdf0b6b654d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0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A1C65-69C0-481C-A162-F7359B2C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4E9E4"/>
                </a:solidFill>
                <a:latin typeface="Arial"/>
                <a:ea typeface="Arial"/>
                <a:cs typeface="Arial"/>
              </a:rPr>
              <a:t>ПРОЕКТ ДЛЯ ХАКАТОНА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7D088-723C-4FAD-8E17-35133C73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Дом.Среда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473BB-6501-45F4-AD21-BED2B932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Сообщение жителя становится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проверенным результатом для дома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B881C-E00A-4762-8713-ABB84AE4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Бот MAX · мини-приложение · история объектов дома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4c7e110c14a16"/>
          <a:stretch xmlns:a="http://schemas.openxmlformats.org/drawingml/2006/main"/>
        </p:blipFill>
        <p:spPr>
          <a:xfrm xmlns:a="http://schemas.openxmlformats.org/drawingml/2006/main">
            <a:off x="9144000" y="2534201"/>
            <a:ext cx="2286000" cy="24182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3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3865-A0FD-4D58-8585-39F24281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ДОМ.СРЕДА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BBB1B-6E94-451B-ADD1-13148DE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Повторная поломка без истории работ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F9F9A-E347-47DC-8CDF-F38D0D3F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745E-A194-4FCE-A26D-877D233B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«Лифт опять встал, второй подъезд»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79328-B682-4558-9EC4-86AF6D8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838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Житель подъезда не видит, связаны ли обращения, кто отвечает за ремонт и устранили ли причину прошлой остановки.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FFE4-B590-4811-AA5A-3D730541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Результат для жителя — проверенное состояние лифта.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f81951e174791"/>
          <a:stretch xmlns:a="http://schemas.openxmlformats.org/drawingml/2006/main"/>
        </p:blipFill>
        <p:spPr>
          <a:xfrm xmlns:a="http://schemas.openxmlformats.org/drawingml/2006/main">
            <a:off x="9561016" y="3905250"/>
            <a:ext cx="1880592" cy="2057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83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0AAE5-4C26-4DB7-872B-E40ACC3B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ДОМ.СРЕДА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E1F1F-5254-4E90-9E8C-E882837D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Как работает замкнутый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528AA-E966-4B86-80AA-5B35C78C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76015-6F35-49EF-ACE7-5341CBF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95071-BAF2-47B3-96E1-C5D1F79F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Сигналы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9D413-A3CB-4945-9BA5-8D086C3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Сообщения жителей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в личке и группе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D7A41-05CD-4998-85DB-9159F949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C7CA6-C150-45B1-A8BA-799DC2C5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Объект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54687-CC28-4726-80E8-BEC5C52D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Проблема лифта №2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и прошлые инциденты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88827-0023-4E69-9D64-D40C72D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D6F1B-C858-49F3-BD01-FBFD30EA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Работа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5387A-182F-4292-AC1A-FAE4FF6B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Передача, исполнитель,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фото выполнения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32495-680F-401E-ACDF-3CC3CD61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96F5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96F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35D39-EDB5-4822-8227-120C6BE7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5DE07-B8C8-4E81-9F57-485FCF07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Житель подтвердил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или открыл повторно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6C2BB-BA2B-4495-A69D-92EA484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После закрытия новая поломка видна как повторение на том же объекте.</a:t>
            </a:r>
          </a:p>
        </p:txBody>
      </p:sp>
    </p:spTree>
    <p:extLst>
      <p:ext uri="{BB962C8B-B14F-4D97-AF65-F5344CB8AC3E}">
        <p14:creationId xmlns:p14="http://schemas.microsoft.com/office/powerpoint/2010/main" val="1216580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C4500-58F0-471B-A8C7-11B13CC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ДОМ.СРЕДА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49A1F-0CC9-4BB6-B532-7B01A81F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У каждого участника своя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9BA96-24EE-49E5-B746-D7A4A2B9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E6883-DB95-4E06-AFDE-DF2F43C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Житель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4B14F-288D-48DE-8BB2-DAFA0D9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1455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Сообщает о проблеме, подтверждает соседей, проверяет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0BD57-1045-49D4-93C1-5A3009FE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Домоуправляющий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F0BBB-66F1-4076-9D00-744E6680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Решает, готова ли проблема к передаче и кому адресовать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67BFF-03D7-47A8-B2AC-36F5F6DA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УК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4E408-DAA7-4F0C-B0E2-FC3C516D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Принимает обращение и назначает работу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8D637-2A39-4031-A05B-F8B80F98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58B93-677E-46E8-8E36-A4FBDC1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2920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Выполняет работу и прикладывает подтверждение</a:t>
            </a:r>
          </a:p>
        </p:txBody>
      </p:sp>
    </p:spTree>
    <p:extLst>
      <p:ext uri="{BB962C8B-B14F-4D97-AF65-F5344CB8AC3E}">
        <p14:creationId xmlns:p14="http://schemas.microsoft.com/office/powerpoint/2010/main" val="2026876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9ABD6-D557-4FBA-A2A5-9A9B36D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ДОМ.СРЕДА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33EB7-9CE8-4CF7-86A1-AF45CD10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MAX объединяет чат и состояние дома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9E587-103E-4B5E-AB39-1E859A7A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23F2C-8DEC-49C9-AD7E-70A0D589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8429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Бот принимает сообщения группы и личного диалога. Мини-приложение открывает карточку дома и историю объекта.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94E6D-968A-4F3E-84AE-7EC2F142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790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Инициатива жителей превращается в общий неформальный опрос прямо в групповом чате.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42425-E812-448B-9FA7-C19D13D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MAX ID подтверждает аккаунт, но не факт проживания в доме.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db920fa8f4d62"/>
          <a:stretch xmlns:a="http://schemas.openxmlformats.org/drawingml/2006/main"/>
        </p:blipFill>
        <p:spPr>
          <a:xfrm xmlns:a="http://schemas.openxmlformats.org/drawingml/2006/main">
            <a:off x="9334500" y="3203674"/>
            <a:ext cx="2095500" cy="16698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10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6C48E-E095-4B0B-BE50-E2C0B09C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ДОМ.СРЕДА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2680B-B53A-4E42-AEE8-B026E6E2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ML помогает, правила принимают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53331-7485-4A30-859E-A735402A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B8E82-6D61-4724-AA84-4696BB2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92,86%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864B1-16C2-46E5-A8E0-FE37B64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точность категории</a:t>
            </a:r>
          </a:p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на отложенной выборке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5048D-A12C-4835-98E7-D563426C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193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0,9317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1D18A-1840-4EE1-A273-C23E019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macro-F1</a:t>
            </a:r>
          </a:p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на той же выборке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E69B9-2ABC-4E6D-88EE-08FA6540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962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Категория определяется локально. Место, объект, дубликат и повторяемость проходят отдельную проверку; при сомнении бот уточняет только недостающий факт.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5970C-2AE4-44A1-BADA-C7CE85CF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Выборка из 350 подготовленных сообщений; оценка не заменяет проверку на реальных чатах.</a:t>
            </a:r>
          </a:p>
        </p:txBody>
      </p:sp>
    </p:spTree>
    <p:extLst>
      <p:ext uri="{BB962C8B-B14F-4D97-AF65-F5344CB8AC3E}">
        <p14:creationId xmlns:p14="http://schemas.microsoft.com/office/powerpoint/2010/main" val="1907778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5F2C9-7CF9-40E6-88FA-D4BE93DD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ДОМ.СРЕДА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7F673-18C9-436E-A40C-AE3053D6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Тиражирование: меняется дом, не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7F560-23A4-46AF-A3A0-AAFD0105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5F357-43FE-44F2-9C7B-39FE78E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Ядро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5A88C-A775-42B5-9368-2D7F41FC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Сигнал, объект, работа и проверка. Один код уже обслуживает два дома.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C732-E218-4CFF-8BFB-F5FA817C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28825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Конфигурация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815FE-D800-4443-BCE0-49A17ABF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574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Адрес, зоны, оборудование, УК, подрядчики, маршруты и пороги повторений.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7F3EA-9937-4066-BAFC-597DEE4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28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Предлагаемый пилот: один дом в Кольцово, совет дома и УК, 30 дней. Измерим долю проблем с понятным статусом и подтверждённым результатом.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FB43D-221F-4862-90AE-1A703F03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Для внедрения нужны подтверждение проживания и официальный канал УК.</a:t>
            </a:r>
          </a:p>
        </p:txBody>
      </p:sp>
    </p:spTree>
    <p:extLst>
      <p:ext uri="{BB962C8B-B14F-4D97-AF65-F5344CB8AC3E}">
        <p14:creationId xmlns:p14="http://schemas.microsoft.com/office/powerpoint/2010/main" val="869979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0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EEB5A-C3E7-4F40-895F-A326F1A8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E9E4"/>
                </a:solidFill>
                <a:latin typeface="Arial"/>
                <a:ea typeface="Arial"/>
                <a:cs typeface="Arial"/>
              </a:rPr>
              <a:t>ДОМ.СРЕДА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5189D-5654-4278-A376-156CF6B5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за четыре минуты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35F72-C78E-40D1-8B26-257C5BDE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21C08-E11F-4F2A-9614-9A8E0321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Три сообщения о лифте во втором подъезде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4F64D-FA81-4F8D-90F8-0EB21E0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Одна проблема: подтверждения и четвёртый случай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8BFCB-7467-4113-A398-3CC51028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Передача, назначение, фото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063A7-08BB-448D-82E8-258D69AB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Житель подтверждает: лифт работает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3BE88-D075-4BDE-8100-07CD9A25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История лифта обновилась; опрос по освещению открыт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22E81-F6EC-4749-9B4C-F449FDF2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 Второй дом показывает иную конфигурацию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C7420-7E96-4032-A552-186A7A7A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19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MAX: @t312_hakaton_max_bot     Мини-приложение: apaww.github.io/dom.sreda.io</a:t>
            </a:r>
          </a:p>
        </p:txBody>
      </p:sp>
    </p:spTree>
    <p:extLst>
      <p:ext uri="{BB962C8B-B14F-4D97-AF65-F5344CB8AC3E}">
        <p14:creationId xmlns:p14="http://schemas.microsoft.com/office/powerpoint/2010/main" val="555501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2026-09-30T07:44:09.8740000Z</dcterms:created>
  <dcterms:modified xsi:type="dcterms:W3CDTF">2026-09-30T07:44:09.8740000Z</dcterms:modified>
</coreProperties>
</file>