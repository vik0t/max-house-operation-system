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9f36fe11064b09" /><Relationship Type="http://schemas.openxmlformats.org/officeDocument/2006/relationships/extended-properties" Target="/docProps/app.xml" Id="Ra1382a8f94844a85" /><Relationship Type="http://schemas.openxmlformats.org/officeDocument/2006/relationships/officeDocument" Target="/ppt/presentation.xml" Id="Rd5153290ab694d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a5341c9825447c"/>
  </p:sldMasterIdLst>
  <p:notesMasterIdLst>
    <p:notesMasterId xmlns:r="http://schemas.openxmlformats.org/officeDocument/2006/relationships" r:id="R70b5726054e44d43"/>
  </p:notesMasterIdLst>
  <p:sldIdLst>
    <p:sldId xmlns:r="http://schemas.openxmlformats.org/officeDocument/2006/relationships" id="256" r:id="R9435f53b3421431e"/>
    <p:sldId xmlns:r="http://schemas.openxmlformats.org/officeDocument/2006/relationships" id="257" r:id="R92b8e4ada4464529"/>
    <p:sldId xmlns:r="http://schemas.openxmlformats.org/officeDocument/2006/relationships" id="258" r:id="Ra51c0fe9e36943f2"/>
    <p:sldId xmlns:r="http://schemas.openxmlformats.org/officeDocument/2006/relationships" id="259" r:id="R38b71fc8d3764d39"/>
    <p:sldId xmlns:r="http://schemas.openxmlformats.org/officeDocument/2006/relationships" id="260" r:id="Rb0468be6360c413e"/>
    <p:sldId xmlns:r="http://schemas.openxmlformats.org/officeDocument/2006/relationships" id="261" r:id="R117f66e7701c435f"/>
    <p:sldId xmlns:r="http://schemas.openxmlformats.org/officeDocument/2006/relationships" id="262" r:id="Rd0086e756bb049a8"/>
    <p:sldId xmlns:r="http://schemas.openxmlformats.org/officeDocument/2006/relationships" id="263" r:id="Re9eedb757ab841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b96d7708fd43b0" /><Relationship Type="http://schemas.openxmlformats.org/officeDocument/2006/relationships/slideMaster" Target="/ppt/slideMasters/slideMaster1.xml" Id="Rdca5341c9825447c" /><Relationship Type="http://schemas.openxmlformats.org/officeDocument/2006/relationships/notesMaster" Target="/ppt/notesMasters/notesMaster1.xml" Id="R70b5726054e44d43" /><Relationship Type="http://schemas.openxmlformats.org/officeDocument/2006/relationships/presProps" Target="/ppt/presProps.xml" Id="R79717f3776ac4983" /><Relationship Type="http://schemas.openxmlformats.org/officeDocument/2006/relationships/tableStyles" Target="/ppt/tableStyles.xml" Id="Rf463d870c5b64981" /><Relationship Type="http://schemas.openxmlformats.org/officeDocument/2006/relationships/slide" Target="/ppt/slides/slide1.xml" Id="R9435f53b3421431e" /><Relationship Type="http://schemas.openxmlformats.org/officeDocument/2006/relationships/slide" Target="/ppt/slides/slide2.xml" Id="R92b8e4ada4464529" /><Relationship Type="http://schemas.openxmlformats.org/officeDocument/2006/relationships/slide" Target="/ppt/slides/slide3.xml" Id="Ra51c0fe9e36943f2" /><Relationship Type="http://schemas.openxmlformats.org/officeDocument/2006/relationships/slide" Target="/ppt/slides/slide4.xml" Id="R38b71fc8d3764d39" /><Relationship Type="http://schemas.openxmlformats.org/officeDocument/2006/relationships/slide" Target="/ppt/slides/slide5.xml" Id="Rb0468be6360c413e" /><Relationship Type="http://schemas.openxmlformats.org/officeDocument/2006/relationships/slide" Target="/ppt/slides/slide6.xml" Id="R117f66e7701c435f" /><Relationship Type="http://schemas.openxmlformats.org/officeDocument/2006/relationships/slide" Target="/ppt/slides/slide7.xml" Id="Rd0086e756bb049a8" /><Relationship Type="http://schemas.openxmlformats.org/officeDocument/2006/relationships/slide" Target="/ppt/slides/slide8.xml" Id="Re9eedb757ab841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d7c0b28aee4c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be37a89a434ef6" /><Relationship Type="http://schemas.openxmlformats.org/officeDocument/2006/relationships/notesMaster" Target="/ppt/notesMasters/notesMaster1.xml" Id="Rdac66ab41d8e4e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b21858901d4604" /><Relationship Type="http://schemas.openxmlformats.org/officeDocument/2006/relationships/notesMaster" Target="/ppt/notesMasters/notesMaster1.xml" Id="R871e6f9ba25041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42ca0bda4f41a4" /><Relationship Type="http://schemas.openxmlformats.org/officeDocument/2006/relationships/notesMaster" Target="/ppt/notesMasters/notesMaster1.xml" Id="R7c4806f1fb834e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a778521eb347b6" /><Relationship Type="http://schemas.openxmlformats.org/officeDocument/2006/relationships/notesMaster" Target="/ppt/notesMasters/notesMaster1.xml" Id="R3beb6002574a48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89ac0e555445ce" /><Relationship Type="http://schemas.openxmlformats.org/officeDocument/2006/relationships/notesMaster" Target="/ppt/notesMasters/notesMaster1.xml" Id="R4a835437719b44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0acf01b5334c3c" /><Relationship Type="http://schemas.openxmlformats.org/officeDocument/2006/relationships/notesMaster" Target="/ppt/notesMasters/notesMaster1.xml" Id="R1f0d35697f8549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a875aaa0674e95" /><Relationship Type="http://schemas.openxmlformats.org/officeDocument/2006/relationships/notesMaster" Target="/ppt/notesMasters/notesMaster1.xml" Id="R892161331ed74e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23e0eb918a451a" /><Relationship Type="http://schemas.openxmlformats.org/officeDocument/2006/relationships/notesMaster" Target="/ppt/notesMasters/notesMaster1.xml" Id="Rd649e38b4e3542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продуктовая спецификация MAX_DomPuls_Product_Technical_Spec_v3.md; README.md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Приоритетный сегмент: житель подъезда с повторной неисправностью лифта. Гипотеза о боли опирается на кейс «Умный город», страницы 5 и 16, и продуктовую спецификацию; независимого пользовательского интервью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Реализовано: Signal, Issue, Action, Submission, WorkOrder, Evidence, Verification, Asset timeline. Тест: tests/e2e/test_golden_path.py.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Роли и доступы: README.md, docs/max_setup.md, apps/api/app/settings.py. В режиме показа роль можно переключать; для эксплуатации нужен allowlist MAX user_id.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Реальная интеграция: MAX Bot API и MAX Bridge. Групповой опрос реализован и покрыт unit tests; живой групповой прогон требует тестового чата с ботом. Подробнее: docs/max_setup.md.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Метрики: reports/category_eval.json и docs/ai_metrics.md. Внешний OpenRouter получает только текст, который пользователь вручную пишет помощнику, с согласия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Тиражирование: configs/demo_house_a.yaml и configs/demo_house_b.yaml. Пилот — предложение, не договорённость. Метрики гипотетические до запуска. 108 тестов и 20 последовательных E2E проходят. Передача в УК модельная, демо-история синтетическая, опрос не является ОСС.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Точный сценарий: docs/demo.md. Бот использует реальный MAX Bot API. Внешняя отправка в УК симулируется и явно отмечена в интерфейсе.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9783bb7804f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1201a4c6244459" /><Relationship Type="http://schemas.openxmlformats.org/officeDocument/2006/relationships/slideLayout" Target="/ppt/slideLayouts/slideLayout1.xml" Id="R10b0184ac35241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b0184ac35241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74d17e034452c" /><Relationship Type="http://schemas.openxmlformats.org/officeDocument/2006/relationships/image" Target="/ppt/media/image.png" Id="R5d49e0f81fe348c1" /><Relationship Type="http://schemas.openxmlformats.org/officeDocument/2006/relationships/notesSlide" Target="/ppt/notesSlides/notesSlide1.xml" Id="Rf6ccd971fa2d43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d880140d74577" /><Relationship Type="http://schemas.openxmlformats.org/officeDocument/2006/relationships/image" Target="/ppt/media/image2.png" Id="Rfe697ea60de34813" /><Relationship Type="http://schemas.openxmlformats.org/officeDocument/2006/relationships/notesSlide" Target="/ppt/notesSlides/notesSlide2.xml" Id="Re53540ac56fa4d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32da282114707" /><Relationship Type="http://schemas.openxmlformats.org/officeDocument/2006/relationships/notesSlide" Target="/ppt/notesSlides/notesSlide3.xml" Id="R3a92ba3d4e694c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60d642bbf49b3" /><Relationship Type="http://schemas.openxmlformats.org/officeDocument/2006/relationships/notesSlide" Target="/ppt/notesSlides/notesSlide4.xml" Id="R00681bc9ed2a44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cd7cf58644ffb" /><Relationship Type="http://schemas.openxmlformats.org/officeDocument/2006/relationships/image" Target="/ppt/media/image3.png" Id="R7c12e3636ad84f03" /><Relationship Type="http://schemas.openxmlformats.org/officeDocument/2006/relationships/notesSlide" Target="/ppt/notesSlides/notesSlide5.xml" Id="R5645087b4b4b48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c678d8a4f491e" /><Relationship Type="http://schemas.openxmlformats.org/officeDocument/2006/relationships/notesSlide" Target="/ppt/notesSlides/notesSlide6.xml" Id="R31c5d48de78d41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68b76ec7a4da1" /><Relationship Type="http://schemas.openxmlformats.org/officeDocument/2006/relationships/notesSlide" Target="/ppt/notesSlides/notesSlide7.xml" Id="R6138c279e44845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e23d36d5a4c7b" /><Relationship Type="http://schemas.openxmlformats.org/officeDocument/2006/relationships/notesSlide" Target="/ppt/notesSlides/notesSlide8.xml" Id="R370a2e1d894d46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0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13475-691F-4376-A076-22199B40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4E9E4"/>
                </a:solidFill>
                <a:latin typeface="Arial"/>
                <a:ea typeface="Arial"/>
                <a:cs typeface="Arial"/>
              </a:rPr>
              <a:t>ПРОЕКТ ДЛЯ ХАКАТОНА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4A2F7-ACCF-4667-B0FA-51969735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ДомПульс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A02F8-4E40-4568-BCA4-58D2A222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Сообщение жителя становится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проверенным результатом для дома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BB5BC-53EF-4B1A-9E75-D021CBEB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4E9E4"/>
                </a:solidFill>
                <a:latin typeface="Arial"/>
                <a:ea typeface="Arial"/>
                <a:cs typeface="Arial"/>
              </a:rPr>
              <a:t>Бот MAX · мини-приложение · история объектов дома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9e0f81fe348c1"/>
          <a:stretch xmlns:a="http://schemas.openxmlformats.org/drawingml/2006/main"/>
        </p:blipFill>
        <p:spPr>
          <a:xfrm xmlns:a="http://schemas.openxmlformats.org/drawingml/2006/main">
            <a:off x="9144000" y="2534201"/>
            <a:ext cx="2286000" cy="24182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76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CAE4A-3C13-42B3-89B2-95A308AD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2D93A-BAE2-4611-99DC-878BD649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Повторная поломка без истории работ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DBCF9-EEEE-4D55-A8DF-624B5296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3AB31-A29E-412E-8B15-2BE8588E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«Лифт опять встал, второй подъезд»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CFFC4-24E7-47C6-921D-03ACD2EF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8382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Житель подъезда не видит, связаны ли обращения, кто отвечает за ремонт и устранили ли причину прошлой остановки.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E138D-3677-4886-BBD5-1E638684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53025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Результат для жителя — проверенное состояние лифта.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97ea60de34813"/>
          <a:stretch xmlns:a="http://schemas.openxmlformats.org/drawingml/2006/main"/>
        </p:blipFill>
        <p:spPr>
          <a:xfrm xmlns:a="http://schemas.openxmlformats.org/drawingml/2006/main">
            <a:off x="9561016" y="3905250"/>
            <a:ext cx="1880592" cy="2057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19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5CE7E-372D-40D4-A0D4-FE94BE6E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B4522-A768-46B3-AA53-D835449A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Как работает замкнутый цикл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37471-7427-4747-81EC-3EB50DEC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B7035-0824-456D-87F5-4A6E333B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FCB29-7DD0-48ED-9109-3F37CB06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Сигналы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B0626-FF4D-4B35-BB5C-4A3C30E6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95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Сообщения жителей</a:t>
            </a:r>
          </a:p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в личке и группе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08D5E-F2FC-4E6E-B188-5B9C2F2C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B0B17-CA78-420D-8704-907AD606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908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Объект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2ECB0-B59A-407E-B601-06DE3E3E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95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Проблема лифта №2</a:t>
            </a:r>
          </a:p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и прошлые инциденты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E1BD9-6D60-4848-924A-0B831EF5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3B11C-8A2E-4A9F-9C71-10BAC373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908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Работа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78613-9C8F-48B1-93D9-2F9E1ED1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95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Передача, исполнитель,</a:t>
            </a:r>
          </a:p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фото выполнения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58EC2-093B-4F57-A055-F9625BA8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96F5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96F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E1FB2-08A3-4898-888A-15F90D40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908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BF81E-DACF-4CF5-A6EC-A1AFB87B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195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Житель подтвердил</a:t>
            </a:r>
          </a:p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или открыл повторно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9DE97-E9AC-427A-8ECC-78324054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После закрытия новая поломка видна как повторение на том же объекте.</a:t>
            </a:r>
          </a:p>
        </p:txBody>
      </p:sp>
    </p:spTree>
    <p:extLst>
      <p:ext uri="{BB962C8B-B14F-4D97-AF65-F5344CB8AC3E}">
        <p14:creationId xmlns:p14="http://schemas.microsoft.com/office/powerpoint/2010/main" val="267155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B24FE-9799-4F34-8CB7-27C863CE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26066-97B6-4B4D-A47B-3355891C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У каждого участника своя задача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3C15A-3FC2-4E6B-94A5-40DD449F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AD959-39CA-4F33-89BD-B61906CF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Житель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4BBF1-2B8A-4A26-8DCD-8E73F5EE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14550"/>
            <a:ext cx="742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Сообщает о проблеме, подтверждает соседей, проверяет результат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CBCA1-E965-4488-B29E-56C367BD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Домоуправляющий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90491-97CF-4C9A-9199-08B447D6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86100"/>
            <a:ext cx="742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Решает, готова ли проблема к передаче и кому адресовать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4EF48-D47F-4DD6-A869-8A03C313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УК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566A9-EC00-4FE8-9B07-CAD80487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57650"/>
            <a:ext cx="742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Принимает обращение и назначает работу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ADD4C-936A-416D-8169-8ECA9F15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Исполнитель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00343-E8FB-4DFC-9B14-6F37D8CA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29200"/>
            <a:ext cx="742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Выполняет работу и прикладывает подтверждение</a:t>
            </a:r>
          </a:p>
        </p:txBody>
      </p:sp>
    </p:spTree>
    <p:extLst>
      <p:ext uri="{BB962C8B-B14F-4D97-AF65-F5344CB8AC3E}">
        <p14:creationId xmlns:p14="http://schemas.microsoft.com/office/powerpoint/2010/main" val="1990037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3A409-CFC1-4E16-9402-368CFEA2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592C0-E567-45CE-A96C-1A590EC8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MAX объединяет чат и состояние дома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2CB4E-E2A7-465A-86E3-CC115DED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EFA41-2A08-40D7-96B6-0C098B50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8429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Бот принимает сообщения группы и личного диалога. Мини-приложение открывает карточку дома и историю объекта.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F8E40-8F0F-4220-8617-190E7A20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790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Инициатива жителей превращается в общий неформальный опрос прямо в групповом чате.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4FD20-0CB1-47AF-9D96-831BB614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0175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MAX ID подтверждает аккаунт, но не факт проживания в доме.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2e3636ad84f03"/>
          <a:stretch xmlns:a="http://schemas.openxmlformats.org/drawingml/2006/main"/>
        </p:blipFill>
        <p:spPr>
          <a:xfrm xmlns:a="http://schemas.openxmlformats.org/drawingml/2006/main">
            <a:off x="9334500" y="3203674"/>
            <a:ext cx="2095500" cy="16698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74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17FA2-622C-42D1-8305-8F03FC47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A10B9-54EF-456F-BD3B-1B3E1658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ML помогает, правила принимают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D342B-E9A0-4058-BA31-73A415E9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ED972-E71B-4282-961D-5AC5C363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92,86%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41EE-D4DD-468D-A77D-0DB3232C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точность категории</a:t>
            </a:r>
          </a:p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на отложенной выборке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437EE-C925-4F5A-961F-3ECC0380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193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0,9317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87225-C239-4737-B5D5-3B00D819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146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macro-F1</a:t>
            </a:r>
          </a:p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на той же выборке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C1F29-1B34-4A1D-AC90-911EEB1E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962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Категория определяется локально. Место, объект, дубликат и повторяемость проходят отдельную проверку; при сомнении бот уточняет только недостающий факт.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9D82B-192D-4E68-89A4-9523D0CF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Выборка из 350 подготовленных сообщений; оценка не заменяет проверку на реальных чатах.</a:t>
            </a:r>
          </a:p>
        </p:txBody>
      </p:sp>
    </p:spTree>
    <p:extLst>
      <p:ext uri="{BB962C8B-B14F-4D97-AF65-F5344CB8AC3E}">
        <p14:creationId xmlns:p14="http://schemas.microsoft.com/office/powerpoint/2010/main" val="1756527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72B47-4AAC-4ABE-AC4D-B74E1FC7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88F88-68AC-4C3F-AAA0-F307CDA4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Тиражирование: меняется дом, не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4140F-CF7C-4B23-ADE5-DB7C0DAD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B83F2-BE3F-41F6-8505-A38A53AA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495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Ядро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4AE46-417F-4422-B30C-30654643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Сигнал, объект, работа и проверка. Один код уже обслуживает два дома.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D72ED-6F2F-45DA-8530-342BA1E4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28825"/>
            <a:ext cx="4857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Конфигурация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27EB7-1307-4D7F-AF87-211D84C6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5747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Адрес, зоны, оборудование, УК, подрядчики, маршруты и пороги повторений.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4FCFE-9418-4653-B74D-6D9DE08C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287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Предлагаемый пилот: один дом в Кольцово, совет дома и УК, 30 дней. Измерим долю проблем с понятным статусом и подтверждённым результатом.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ED112-7B48-410F-ADDA-02BEC100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Для внедрения нужны подтверждение проживания и официальный канал УК.</a:t>
            </a:r>
          </a:p>
        </p:txBody>
      </p:sp>
    </p:spTree>
    <p:extLst>
      <p:ext uri="{BB962C8B-B14F-4D97-AF65-F5344CB8AC3E}">
        <p14:creationId xmlns:p14="http://schemas.microsoft.com/office/powerpoint/2010/main" val="14742833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30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FD248-768A-4A10-AC30-3B1E9EFB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E9E4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F7DA7-2EBA-4036-8112-2D01499C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Демонстрация за четыре минуты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1CDF8-41A8-4FAD-9EAB-A80BD7A7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9E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CA6DC-50AD-4556-8682-747D3137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 Три сообщения о лифте во втором подъезде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4AC51-55D5-4E68-BD83-D6F84B99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 Одна проблема: подтверждения и четвёртый случай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56536-33D4-4DD5-A3F3-DF4D8103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Передача, назначение, фото работы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A02C8-973E-4F33-86DD-B40B26AC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Житель подтверждает: лифт работает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F6474-F469-4A6C-8074-1844C704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 История лифта обновилась; опрос по освещению открыт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8BAC9-630A-40A1-9B72-1E8EEE86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  Второй дом показывает иную конфигурацию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D7809-E37B-4A2F-8CA0-4CB6EC78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19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4E9E4"/>
                </a:solidFill>
                <a:latin typeface="Arial"/>
                <a:ea typeface="Arial"/>
                <a:cs typeface="Arial"/>
              </a:rPr>
              <a:t>MAX: @t312_hakaton_max_bot     Мини-приложение: apaww.github.io/dom.sreda.io</a:t>
            </a:r>
          </a:p>
        </p:txBody>
      </p:sp>
    </p:spTree>
    <p:extLst>
      <p:ext uri="{BB962C8B-B14F-4D97-AF65-F5344CB8AC3E}">
        <p14:creationId xmlns:p14="http://schemas.microsoft.com/office/powerpoint/2010/main" val="546923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2026-09-29T20:08:08.9650000Z</dcterms:created>
  <dcterms:modified xsi:type="dcterms:W3CDTF">2026-09-29T20:08:08.9650000Z</dcterms:modified>
</coreProperties>
</file>